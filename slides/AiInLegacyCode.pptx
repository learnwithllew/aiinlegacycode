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76" r:id="rId2"/>
    <p:sldId id="414" r:id="rId3"/>
    <p:sldId id="436" r:id="rId4"/>
    <p:sldId id="427" r:id="rId5"/>
    <p:sldId id="327" r:id="rId6"/>
    <p:sldId id="443" r:id="rId7"/>
    <p:sldId id="442" r:id="rId8"/>
    <p:sldId id="446" r:id="rId9"/>
    <p:sldId id="445" r:id="rId10"/>
    <p:sldId id="448" r:id="rId11"/>
    <p:sldId id="457" r:id="rId12"/>
    <p:sldId id="449" r:id="rId13"/>
    <p:sldId id="450" r:id="rId14"/>
    <p:sldId id="444" r:id="rId15"/>
    <p:sldId id="451" r:id="rId16"/>
    <p:sldId id="452" r:id="rId17"/>
    <p:sldId id="453" r:id="rId18"/>
    <p:sldId id="454" r:id="rId19"/>
    <p:sldId id="455" r:id="rId20"/>
    <p:sldId id="434" r:id="rId21"/>
    <p:sldId id="441" r:id="rId22"/>
    <p:sldId id="435" r:id="rId23"/>
    <p:sldId id="410" r:id="rId24"/>
    <p:sldId id="438" r:id="rId25"/>
    <p:sldId id="43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4D8F24-B5B1-FF42-BDED-C9E4E4C957F8}">
          <p14:sldIdLst>
            <p14:sldId id="276"/>
            <p14:sldId id="414"/>
            <p14:sldId id="436"/>
            <p14:sldId id="427"/>
            <p14:sldId id="327"/>
            <p14:sldId id="443"/>
            <p14:sldId id="442"/>
            <p14:sldId id="446"/>
            <p14:sldId id="445"/>
            <p14:sldId id="448"/>
            <p14:sldId id="457"/>
            <p14:sldId id="449"/>
            <p14:sldId id="450"/>
            <p14:sldId id="444"/>
            <p14:sldId id="451"/>
            <p14:sldId id="452"/>
            <p14:sldId id="453"/>
            <p14:sldId id="454"/>
            <p14:sldId id="455"/>
            <p14:sldId id="434"/>
            <p14:sldId id="441"/>
            <p14:sldId id="435"/>
            <p14:sldId id="410"/>
            <p14:sldId id="438"/>
            <p14:sldId id="439"/>
          </p14:sldIdLst>
        </p14:section>
        <p14:section name="The Talk" id="{C3E73350-9999-4042-B46C-954DFBCF7697}">
          <p14:sldIdLst/>
        </p14:section>
        <p14:section name="Style Guide" id="{AD4C1F05-61C8-2841-B0A1-FC6B5B8B3C6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4BA1"/>
    <a:srgbClr val="417769"/>
    <a:srgbClr val="A17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46"/>
    <p:restoredTop sz="91148"/>
  </p:normalViewPr>
  <p:slideViewPr>
    <p:cSldViewPr snapToGrid="0" snapToObjects="1">
      <p:cViewPr varScale="1">
        <p:scale>
          <a:sx n="114" d="100"/>
          <a:sy n="114" d="100"/>
        </p:scale>
        <p:origin x="26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51BAA-7863-A845-95EE-E0917C9017CF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2C9-2D07-354B-99FC-F9CD075E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7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37D396-1685-264D-85FB-49DF06B49884}"/>
              </a:ext>
            </a:extLst>
          </p:cNvPr>
          <p:cNvSpPr txBox="1"/>
          <p:nvPr/>
        </p:nvSpPr>
        <p:spPr>
          <a:xfrm>
            <a:off x="571500" y="2413000"/>
            <a:ext cx="8001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AI in Legacy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B2108-7582-5D44-84FD-8DD0EF8528A8}"/>
              </a:ext>
            </a:extLst>
          </p:cNvPr>
          <p:cNvSpPr txBox="1"/>
          <p:nvPr/>
        </p:nvSpPr>
        <p:spPr>
          <a:xfrm>
            <a:off x="571500" y="3327400"/>
            <a:ext cx="8001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sz="2000" dirty="0">
                <a:solidFill>
                  <a:srgbClr val="DCE3EC"/>
                </a:solidFill>
              </a:rPr>
              <a:t>Small Steps, Deterministic Tools, Reusable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76C54-3861-504B-AFD6-B82D54191117}"/>
              </a:ext>
            </a:extLst>
          </p:cNvPr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6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0A420-22F6-658E-F748-11B7FC7D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83C4FD4-504D-BDDE-262E-9A28EB208CBB}"/>
              </a:ext>
            </a:extLst>
          </p:cNvPr>
          <p:cNvGrpSpPr/>
          <p:nvPr/>
        </p:nvGrpSpPr>
        <p:grpSpPr>
          <a:xfrm>
            <a:off x="307819" y="183238"/>
            <a:ext cx="8048530" cy="6841307"/>
            <a:chOff x="1471503" y="183238"/>
            <a:chExt cx="5755263" cy="4763852"/>
          </a:xfrm>
        </p:grpSpPr>
        <p:sp>
          <p:nvSpPr>
            <p:cNvPr id="6" name="Google Shape;258;p27">
              <a:extLst>
                <a:ext uri="{FF2B5EF4-FFF2-40B4-BE49-F238E27FC236}">
                  <a16:creationId xmlns:a16="http://schemas.microsoft.com/office/drawing/2014/main" id="{F631DDD1-180E-87F2-CB55-32CC66C5D41B}"/>
                </a:ext>
              </a:extLst>
            </p:cNvPr>
            <p:cNvSpPr txBox="1"/>
            <p:nvPr/>
          </p:nvSpPr>
          <p:spPr>
            <a:xfrm>
              <a:off x="1908289" y="765262"/>
              <a:ext cx="5318477" cy="3826313"/>
            </a:xfrm>
            <a:prstGeom prst="rect">
              <a:avLst/>
            </a:prstGeom>
            <a:noFill/>
            <a:ln w="19050" cap="rnd" cmpd="sng">
              <a:solidFill>
                <a:srgbClr val="FFFFFF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dirty="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00191C-EA24-E3BD-5006-CF811D178AA1}"/>
                </a:ext>
              </a:extLst>
            </p:cNvPr>
            <p:cNvSpPr/>
            <p:nvPr/>
          </p:nvSpPr>
          <p:spPr>
            <a:xfrm>
              <a:off x="2464773" y="3970653"/>
              <a:ext cx="4316929" cy="715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sz="4050" b="1" spc="450" dirty="0">
                  <a:solidFill>
                    <a:srgbClr val="FFFFFF"/>
                  </a:solidFill>
                  <a:latin typeface="Cousine"/>
                  <a:ea typeface="Cousine"/>
                  <a:cs typeface="Cousine"/>
                  <a:sym typeface="Cousine"/>
                </a:rPr>
                <a:t>AWARENESS</a:t>
              </a:r>
              <a:endParaRPr lang="en-US" sz="1350" b="1" spc="450" dirty="0"/>
            </a:p>
          </p:txBody>
        </p:sp>
        <p:sp>
          <p:nvSpPr>
            <p:cNvPr id="8" name="Up Arrow 7">
              <a:extLst>
                <a:ext uri="{FF2B5EF4-FFF2-40B4-BE49-F238E27FC236}">
                  <a16:creationId xmlns:a16="http://schemas.microsoft.com/office/drawing/2014/main" id="{FD8189ED-6E89-CBC3-B36F-0A7E9492CDB3}"/>
                </a:ext>
              </a:extLst>
            </p:cNvPr>
            <p:cNvSpPr/>
            <p:nvPr/>
          </p:nvSpPr>
          <p:spPr>
            <a:xfrm>
              <a:off x="2095482" y="930427"/>
              <a:ext cx="787310" cy="3523511"/>
            </a:xfrm>
            <a:prstGeom prst="upArrow">
              <a:avLst/>
            </a:prstGeom>
            <a:noFill/>
            <a:ln w="38100" cmpd="sng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693A84-FA73-DD0F-7928-3850456B780B}"/>
                </a:ext>
              </a:extLst>
            </p:cNvPr>
            <p:cNvSpPr/>
            <p:nvPr/>
          </p:nvSpPr>
          <p:spPr>
            <a:xfrm rot="16200000">
              <a:off x="390258" y="2488544"/>
              <a:ext cx="431692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sz="3300" b="1" spc="-113" dirty="0">
                  <a:solidFill>
                    <a:srgbClr val="FFFFFF"/>
                  </a:solidFill>
                  <a:latin typeface="Cousine"/>
                  <a:ea typeface="Cousine"/>
                  <a:cs typeface="Cousine"/>
                  <a:sym typeface="Cousine"/>
                </a:rPr>
                <a:t>PROFICIENCY</a:t>
              </a:r>
              <a:endParaRPr lang="en-US" sz="825" b="1" spc="-113" dirty="0"/>
            </a:p>
          </p:txBody>
        </p:sp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667EDEDF-BB6E-9E86-F686-973227249A93}"/>
                </a:ext>
              </a:extLst>
            </p:cNvPr>
            <p:cNvSpPr/>
            <p:nvPr/>
          </p:nvSpPr>
          <p:spPr>
            <a:xfrm rot="5400000">
              <a:off x="3553060" y="2053521"/>
              <a:ext cx="787310" cy="2518940"/>
            </a:xfrm>
            <a:prstGeom prst="upArrow">
              <a:avLst/>
            </a:prstGeom>
            <a:noFill/>
            <a:ln w="38100" cmpd="sng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7BB8A7-805D-E0A3-CB2E-6CF6E55B1102}"/>
                </a:ext>
              </a:extLst>
            </p:cNvPr>
            <p:cNvSpPr/>
            <p:nvPr/>
          </p:nvSpPr>
          <p:spPr>
            <a:xfrm>
              <a:off x="1471503" y="3101426"/>
              <a:ext cx="431692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sz="3300" b="1" spc="-113" dirty="0">
                  <a:solidFill>
                    <a:srgbClr val="FFFFFF"/>
                  </a:solidFill>
                  <a:latin typeface="Cousine"/>
                  <a:ea typeface="Cousine"/>
                  <a:cs typeface="Cousine"/>
                  <a:sym typeface="Cousine"/>
                </a:rPr>
                <a:t>FLUENCY</a:t>
              </a:r>
              <a:endParaRPr lang="en-US" sz="825" b="1" spc="-113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7B22CE-65A0-98EB-0E15-454016E13065}"/>
                </a:ext>
              </a:extLst>
            </p:cNvPr>
            <p:cNvSpPr/>
            <p:nvPr/>
          </p:nvSpPr>
          <p:spPr>
            <a:xfrm>
              <a:off x="1495141" y="183238"/>
              <a:ext cx="3935693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" sz="2700" b="1" dirty="0">
                  <a:solidFill>
                    <a:srgbClr val="FFFFFF"/>
                  </a:solidFill>
                  <a:latin typeface="Cousine"/>
                  <a:ea typeface="Cousine"/>
                  <a:cs typeface="Cousine"/>
                  <a:sym typeface="Cousine"/>
                </a:rPr>
                <a:t>Types of knowledge</a:t>
              </a:r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089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7FB280"/>
                </a:solidFill>
              </a:rPr>
              <a:t>The idea</a:t>
            </a:r>
          </a:p>
        </p:txBody>
      </p:sp>
      <p:sp>
        <p:nvSpPr>
          <p:cNvPr id="12" name="Statement"/>
          <p:cNvSpPr txBox="1"/>
          <p:nvPr/>
        </p:nvSpPr>
        <p:spPr>
          <a:xfrm>
            <a:off x="660400" y="28702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We are going to</a:t>
            </a:r>
            <a:br>
              <a:rPr lang="en-US" sz="4400" b="1" dirty="0">
                <a:solidFill>
                  <a:srgbClr val="FFFFFF"/>
                </a:solidFill>
              </a:rPr>
            </a:br>
            <a:r>
              <a:rPr lang="en-US" sz="4400" b="1" dirty="0">
                <a:solidFill>
                  <a:srgbClr val="FFFFFF"/>
                </a:solidFill>
              </a:rPr>
              <a:t>clean up some code.</a:t>
            </a:r>
          </a:p>
        </p:txBody>
      </p:sp>
    </p:spTree>
    <p:extLst>
      <p:ext uri="{BB962C8B-B14F-4D97-AF65-F5344CB8AC3E}">
        <p14:creationId xmlns:p14="http://schemas.microsoft.com/office/powerpoint/2010/main" val="334556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Which repo?</a:t>
            </a:r>
          </a:p>
        </p:txBody>
      </p:sp>
      <p:sp>
        <p:nvSpPr>
          <p:cNvPr id="20" name="Repo card"/>
          <p:cNvSpPr/>
          <p:nvPr/>
        </p:nvSpPr>
        <p:spPr>
          <a:xfrm>
            <a:off x="571500" y="2095500"/>
            <a:ext cx="3898900" cy="17145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r>
              <a:rPr lang="en-US" sz="1200" b="1" dirty="0">
                <a:solidFill>
                  <a:srgbClr val="7FB280"/>
                </a:solidFill>
              </a:rPr>
              <a:t>01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FFFFFF"/>
                </a:solidFill>
              </a:rPr>
              <a:t>CsvHelper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DCE3EC"/>
                </a:solidFill>
              </a:rPr>
              <a:t>C# · CSV reading and writing</a:t>
            </a:r>
          </a:p>
        </p:txBody>
      </p:sp>
      <p:sp>
        <p:nvSpPr>
          <p:cNvPr id="21" name="Repo card"/>
          <p:cNvSpPr/>
          <p:nvPr/>
        </p:nvSpPr>
        <p:spPr>
          <a:xfrm>
            <a:off x="4673600" y="2095500"/>
            <a:ext cx="3898900" cy="17145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r>
              <a:rPr lang="en-US" sz="1200" b="1" dirty="0">
                <a:solidFill>
                  <a:srgbClr val="7FB280"/>
                </a:solidFill>
              </a:rPr>
              <a:t>02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FFFFFF"/>
                </a:solidFill>
              </a:rPr>
              <a:t>FluentValidation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DCE3EC"/>
                </a:solidFill>
              </a:rPr>
              <a:t>C# · Validation rules</a:t>
            </a:r>
          </a:p>
        </p:txBody>
      </p:sp>
      <p:sp>
        <p:nvSpPr>
          <p:cNvPr id="22" name="Repo card"/>
          <p:cNvSpPr/>
          <p:nvPr/>
        </p:nvSpPr>
        <p:spPr>
          <a:xfrm>
            <a:off x="571500" y="4013200"/>
            <a:ext cx="3898900" cy="17145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r>
              <a:rPr lang="en-US" sz="1200" b="1" dirty="0">
                <a:solidFill>
                  <a:srgbClr val="7FB280"/>
                </a:solidFill>
              </a:rPr>
              <a:t>03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FFFFFF"/>
                </a:solidFill>
              </a:rPr>
              <a:t>Serilog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DCE3EC"/>
                </a:solidFill>
              </a:rPr>
              <a:t>C# · Structured logging</a:t>
            </a:r>
          </a:p>
        </p:txBody>
      </p:sp>
      <p:sp>
        <p:nvSpPr>
          <p:cNvPr id="23" name="Repo card"/>
          <p:cNvSpPr/>
          <p:nvPr/>
        </p:nvSpPr>
        <p:spPr>
          <a:xfrm>
            <a:off x="4673600" y="4013200"/>
            <a:ext cx="3898900" cy="17145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r>
              <a:rPr lang="en-US" sz="1200" b="1" dirty="0">
                <a:solidFill>
                  <a:srgbClr val="7FB280"/>
                </a:solidFill>
              </a:rPr>
              <a:t>04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FFFFFF"/>
                </a:solidFill>
              </a:rPr>
              <a:t>Apache Commons Text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DCE3EC"/>
                </a:solidFill>
              </a:rPr>
              <a:t>Java · String utilities</a:t>
            </a:r>
          </a:p>
        </p:txBody>
      </p:sp>
    </p:spTree>
    <p:extLst>
      <p:ext uri="{BB962C8B-B14F-4D97-AF65-F5344CB8AC3E}">
        <p14:creationId xmlns:p14="http://schemas.microsoft.com/office/powerpoint/2010/main" val="215418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C17A9A-1DC3-E073-1696-11CD04C39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9860"/>
            <a:ext cx="7772400" cy="445828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212BB-B9B8-9F02-19B1-0239E734C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04" y="5154415"/>
            <a:ext cx="1007449" cy="100744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0BD92-ED62-AB4E-FB53-78228D04A00C}"/>
              </a:ext>
            </a:extLst>
          </p:cNvPr>
          <p:cNvSpPr txBox="1"/>
          <p:nvPr/>
        </p:nvSpPr>
        <p:spPr>
          <a:xfrm>
            <a:off x="48686" y="6161864"/>
            <a:ext cx="145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Lada Kesseler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A484B-198C-32A5-443F-5A34F9B8FF21}"/>
              </a:ext>
            </a:extLst>
          </p:cNvPr>
          <p:cNvSpPr/>
          <p:nvPr/>
        </p:nvSpPr>
        <p:spPr>
          <a:xfrm>
            <a:off x="2620462" y="3270974"/>
            <a:ext cx="718019" cy="718019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4BC62-CD52-9B0C-11C0-03CACF804630}"/>
              </a:ext>
            </a:extLst>
          </p:cNvPr>
          <p:cNvSpPr/>
          <p:nvPr/>
        </p:nvSpPr>
        <p:spPr>
          <a:xfrm>
            <a:off x="1961767" y="3177898"/>
            <a:ext cx="553345" cy="553345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C989AB-DC5C-0CD5-D93D-51483F11A210}"/>
              </a:ext>
            </a:extLst>
          </p:cNvPr>
          <p:cNvSpPr/>
          <p:nvPr/>
        </p:nvSpPr>
        <p:spPr>
          <a:xfrm>
            <a:off x="2970265" y="1950516"/>
            <a:ext cx="588122" cy="588122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0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6B3B-D5E3-8800-75E4-649F7808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ACA2D2-16A7-F6C5-BF0A-0891F2F2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32" t="40949" r="77714" b="45010"/>
          <a:stretch>
            <a:fillRect/>
          </a:stretch>
        </p:blipFill>
        <p:spPr>
          <a:xfrm>
            <a:off x="1675376" y="3025498"/>
            <a:ext cx="742567" cy="6259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933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Arlo’s Commit Notation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36FEBB-3CA4-EA70-13AB-8D771D3A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" t="32215" r="-133" b="471"/>
          <a:stretch>
            <a:fillRect/>
          </a:stretch>
        </p:blipFill>
        <p:spPr>
          <a:xfrm>
            <a:off x="1926991" y="2060468"/>
            <a:ext cx="5954100" cy="338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44B6-0E60-12FE-4462-B6A766C1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BD4EDC-95C9-A8B5-4359-20004DCD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9860"/>
            <a:ext cx="7772400" cy="445828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2B2E9A-6CAE-F8AB-7A2C-85E3A2B615DF}"/>
              </a:ext>
            </a:extLst>
          </p:cNvPr>
          <p:cNvSpPr/>
          <p:nvPr/>
        </p:nvSpPr>
        <p:spPr>
          <a:xfrm>
            <a:off x="2620462" y="3270974"/>
            <a:ext cx="718019" cy="718019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1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D1ED-413E-563F-D053-F2DBF120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6983E8-884D-9CDC-6AC2-F46C2D7D56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35" t="47280" r="65632" b="37990"/>
          <a:stretch>
            <a:fillRect/>
          </a:stretch>
        </p:blipFill>
        <p:spPr>
          <a:xfrm>
            <a:off x="2608188" y="3307796"/>
            <a:ext cx="748703" cy="65664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1321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392F-FA27-40E5-9BC8-B3BCDD40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317DE8C-B569-C9E7-ADA5-66905C9AFDDE}"/>
              </a:ext>
            </a:extLst>
          </p:cNvPr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./tools/</a:t>
            </a:r>
          </a:p>
        </p:txBody>
      </p:sp>
    </p:spTree>
    <p:extLst>
      <p:ext uri="{BB962C8B-B14F-4D97-AF65-F5344CB8AC3E}">
        <p14:creationId xmlns:p14="http://schemas.microsoft.com/office/powerpoint/2010/main" val="297576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C3A2-729F-FF1A-1549-2570103E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E5A9D96B-EED1-C74F-189B-E6AA61F5E9D8}"/>
              </a:ext>
            </a:extLst>
          </p:cNvPr>
          <p:cNvSpPr txBox="1"/>
          <p:nvPr/>
        </p:nvSpPr>
        <p:spPr>
          <a:xfrm>
            <a:off x="295339" y="1008841"/>
            <a:ext cx="4871942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create-commit-</a:t>
            </a:r>
            <a:r>
              <a:rPr lang="en-US" sz="3200" b="1" dirty="0" err="1">
                <a:solidFill>
                  <a:srgbClr val="1F3A5F"/>
                </a:solidFill>
              </a:rPr>
              <a:t>message.sh</a:t>
            </a:r>
            <a:endParaRPr lang="en-US" sz="3200" b="1" dirty="0">
              <a:solidFill>
                <a:srgbClr val="1F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49A3-8B75-AEB5-CBCB-74C229DA1F5B}"/>
              </a:ext>
            </a:extLst>
          </p:cNvPr>
          <p:cNvSpPr txBox="1"/>
          <p:nvPr/>
        </p:nvSpPr>
        <p:spPr>
          <a:xfrm>
            <a:off x="5283882" y="645962"/>
            <a:ext cx="3507247" cy="55660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#!/bin/bash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Create a commit message: &lt;risk char&gt; &lt;intention char&gt; &lt;message&gt;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Usage: create-commit-</a:t>
            </a:r>
            <a:r>
              <a:rPr lang="en-US" sz="5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message.sh</a:t>
            </a: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RISK INTENTION MESSAGE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See </a:t>
            </a:r>
            <a:r>
              <a:rPr lang="en-US" sz="5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InternalDocuments</a:t>
            </a: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5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commit_notation.md</a:t>
            </a: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for the names.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set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-e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name=$(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basename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"$0"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fail() {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echo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"$name: error: $1"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&gt;&amp;2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exit </a:t>
            </a:r>
            <a:r>
              <a:rPr lang="en-US" sz="5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 </a:t>
            </a: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$#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-ne </a:t>
            </a:r>
            <a:r>
              <a:rPr lang="en-US" sz="5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]; </a:t>
            </a: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then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echo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"$name: usage: $name risk intention message"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&gt;&amp;2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exit </a:t>
            </a:r>
            <a:r>
              <a:rPr lang="en-US" sz="5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fi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risk=$1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intention=$2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message=$3</a:t>
            </a: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"$risk"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 err="1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completely_safe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risk_char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proven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risk_char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 err="1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single_item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risk_char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!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other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risk_char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 marL="304800" indent="-304800"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*) fail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"unrecognized risk '$risk' (expected one of: </a:t>
            </a:r>
            <a:r>
              <a:rPr lang="en-US" sz="5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completely_safe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, proven, </a:t>
            </a:r>
            <a:r>
              <a:rPr lang="en-US" sz="5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single_item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, other)"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esac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"$intention"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environment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test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refactor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feature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bug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811F3F"/>
                </a:solidFill>
                <a:effectLst/>
                <a:latin typeface="Menlo" panose="020B0609030804020204" pitchFamily="49" charset="0"/>
              </a:rPr>
              <a:t>    documentation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 marL="304800" indent="-304800"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*) fail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"unrecognized intention '$intention' (expected one of: environment, test, refactor, feature, bug, documentation)"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;;</a:t>
            </a:r>
          </a:p>
          <a:p>
            <a:pPr>
              <a:lnSpc>
                <a:spcPct val="125000"/>
              </a:lnSpc>
              <a:buNone/>
            </a:pPr>
            <a:r>
              <a:rPr lang="en-US" sz="5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esac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Development environment changes can't break production, whatever the testing.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"$intention"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environment ] &amp;&amp; [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"$risk"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!= </a:t>
            </a:r>
            <a:r>
              <a:rPr lang="en-US" sz="5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completely_safe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]; </a:t>
            </a: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then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304800" indent="-304800"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fail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"intention '$intention' can't break production, so risk must be </a:t>
            </a:r>
            <a:r>
              <a:rPr lang="en-US" sz="5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completely_safe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fi18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Trim leading and trailing whitespace.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message=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"${message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"${message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%%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!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space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]]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}"}"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message=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"${message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"${message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##*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!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space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]]}"}"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 -n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"$message"</a:t>
            </a: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] || fail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"message is required"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5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echo 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"$</a:t>
            </a:r>
            <a:r>
              <a:rPr lang="en-US" sz="5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risk_char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$</a:t>
            </a:r>
            <a:r>
              <a:rPr lang="en-US" sz="5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intention_char</a:t>
            </a:r>
            <a:r>
              <a:rPr lang="en-US" sz="5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$message"</a:t>
            </a: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  <a:buNone/>
            </a:pPr>
            <a:endParaRPr lang="en-US" sz="5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537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9C4B-D894-8FDB-DC22-CA6D3064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A5CFF8-C088-BBC9-9744-D9D758AB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9860"/>
            <a:ext cx="7772400" cy="445828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5D2F7C-9BB8-4C54-6C8B-FD58F6C6DD12}"/>
              </a:ext>
            </a:extLst>
          </p:cNvPr>
          <p:cNvSpPr/>
          <p:nvPr/>
        </p:nvSpPr>
        <p:spPr>
          <a:xfrm>
            <a:off x="2970265" y="1950516"/>
            <a:ext cx="588122" cy="588122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0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67FE-6A2E-7073-A337-519F3A15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0AC7B7-EC0C-A314-ADB9-217C5326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37" t="12452" r="63262" b="71303"/>
          <a:stretch>
            <a:fillRect/>
          </a:stretch>
        </p:blipFill>
        <p:spPr>
          <a:xfrm>
            <a:off x="2841391" y="1755158"/>
            <a:ext cx="699608" cy="72415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657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4A6A8-9E98-0348-2316-78DD22D5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D5A91739-B646-1E75-C27D-E6E111DB6A9D}"/>
              </a:ext>
            </a:extLst>
          </p:cNvPr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Extract deterministic</a:t>
            </a:r>
          </a:p>
        </p:txBody>
      </p:sp>
      <p:sp>
        <p:nvSpPr>
          <p:cNvPr id="20" name="Tool row">
            <a:extLst>
              <a:ext uri="{FF2B5EF4-FFF2-40B4-BE49-F238E27FC236}">
                <a16:creationId xmlns:a16="http://schemas.microsoft.com/office/drawing/2014/main" id="{9A94E1DD-D5C6-1CC6-A06A-B8503651A1A3}"/>
              </a:ext>
            </a:extLst>
          </p:cNvPr>
          <p:cNvSpPr/>
          <p:nvPr/>
        </p:nvSpPr>
        <p:spPr>
          <a:xfrm>
            <a:off x="571500" y="2032000"/>
            <a:ext cx="8001000" cy="635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01    </a:t>
            </a:r>
            <a:r>
              <a:rPr lang="en-US" sz="1800" b="1" dirty="0">
                <a:solidFill>
                  <a:srgbClr val="FFFFFF"/>
                </a:solidFill>
              </a:rPr>
              <a:t>Committers</a:t>
            </a:r>
          </a:p>
        </p:txBody>
      </p:sp>
      <p:sp>
        <p:nvSpPr>
          <p:cNvPr id="21" name="Tool row">
            <a:extLst>
              <a:ext uri="{FF2B5EF4-FFF2-40B4-BE49-F238E27FC236}">
                <a16:creationId xmlns:a16="http://schemas.microsoft.com/office/drawing/2014/main" id="{89D516A5-152F-FE72-853D-9C74A04039A4}"/>
              </a:ext>
            </a:extLst>
          </p:cNvPr>
          <p:cNvSpPr/>
          <p:nvPr/>
        </p:nvSpPr>
        <p:spPr>
          <a:xfrm>
            <a:off x="571500" y="2794000"/>
            <a:ext cx="8001000" cy="635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02    </a:t>
            </a:r>
            <a:r>
              <a:rPr lang="en-US" sz="1800" b="1" dirty="0">
                <a:solidFill>
                  <a:srgbClr val="FFFFFF"/>
                </a:solidFill>
              </a:rPr>
              <a:t>BuildAndTest</a:t>
            </a:r>
          </a:p>
        </p:txBody>
      </p:sp>
      <p:sp>
        <p:nvSpPr>
          <p:cNvPr id="22" name="Tool row">
            <a:extLst>
              <a:ext uri="{FF2B5EF4-FFF2-40B4-BE49-F238E27FC236}">
                <a16:creationId xmlns:a16="http://schemas.microsoft.com/office/drawing/2014/main" id="{4D974175-6CFD-5BDE-A15F-36A46BD256FA}"/>
              </a:ext>
            </a:extLst>
          </p:cNvPr>
          <p:cNvSpPr/>
          <p:nvPr/>
        </p:nvSpPr>
        <p:spPr>
          <a:xfrm>
            <a:off x="571500" y="3556000"/>
            <a:ext cx="8001000" cy="635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03    </a:t>
            </a:r>
            <a:r>
              <a:rPr lang="en-US" sz="1800" b="1" dirty="0">
                <a:solidFill>
                  <a:srgbClr val="FFFFFF"/>
                </a:solidFill>
              </a:rPr>
              <a:t>Analyzers</a:t>
            </a:r>
          </a:p>
        </p:txBody>
      </p:sp>
      <p:sp>
        <p:nvSpPr>
          <p:cNvPr id="23" name="Tool row">
            <a:extLst>
              <a:ext uri="{FF2B5EF4-FFF2-40B4-BE49-F238E27FC236}">
                <a16:creationId xmlns:a16="http://schemas.microsoft.com/office/drawing/2014/main" id="{0AA61936-45FC-2C7B-8E9A-EE1BAA08D3E9}"/>
              </a:ext>
            </a:extLst>
          </p:cNvPr>
          <p:cNvSpPr/>
          <p:nvPr/>
        </p:nvSpPr>
        <p:spPr>
          <a:xfrm>
            <a:off x="571500" y="4318000"/>
            <a:ext cx="8001000" cy="635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04    </a:t>
            </a:r>
            <a:r>
              <a:rPr lang="en-US" sz="1800" b="1" dirty="0">
                <a:solidFill>
                  <a:srgbClr val="FFFFFF"/>
                </a:solidFill>
              </a:rPr>
              <a:t>Refactoring tools</a:t>
            </a:r>
          </a:p>
        </p:txBody>
      </p:sp>
      <p:sp>
        <p:nvSpPr>
          <p:cNvPr id="24" name="Tool row">
            <a:extLst>
              <a:ext uri="{FF2B5EF4-FFF2-40B4-BE49-F238E27FC236}">
                <a16:creationId xmlns:a16="http://schemas.microsoft.com/office/drawing/2014/main" id="{AF8EE340-3913-A7D3-FD20-1A171EA8B32E}"/>
              </a:ext>
            </a:extLst>
          </p:cNvPr>
          <p:cNvSpPr/>
          <p:nvPr/>
        </p:nvSpPr>
        <p:spPr>
          <a:xfrm>
            <a:off x="571500" y="5080000"/>
            <a:ext cx="8001000" cy="635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05    </a:t>
            </a:r>
            <a:r>
              <a:rPr lang="en-US" sz="1800" b="1" dirty="0">
                <a:solidFill>
                  <a:srgbClr val="FFFFFF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4226764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7FB280"/>
                </a:solidFill>
              </a:rPr>
              <a:t>Extract deterministic · 01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Committers</a:t>
            </a:r>
          </a:p>
        </p:txBody>
      </p:sp>
      <p:sp>
        <p:nvSpPr>
          <p:cNvPr id="20" name="Track bar"/>
          <p:cNvSpPr/>
          <p:nvPr/>
        </p:nvSpPr>
        <p:spPr>
          <a:xfrm>
            <a:off x="660400" y="5207000"/>
            <a:ext cx="1498600" cy="63500"/>
          </a:xfrm>
          <a:prstGeom prst="rect">
            <a:avLst/>
          </a:prstGeom>
          <a:solidFill>
            <a:srgbClr val="7FB28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Track label"/>
          <p:cNvSpPr txBox="1"/>
          <p:nvPr/>
        </p:nvSpPr>
        <p:spPr>
          <a:xfrm>
            <a:off x="6604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Committers</a:t>
            </a:r>
          </a:p>
        </p:txBody>
      </p:sp>
      <p:sp>
        <p:nvSpPr>
          <p:cNvPr id="21" name="Track bar"/>
          <p:cNvSpPr/>
          <p:nvPr/>
        </p:nvSpPr>
        <p:spPr>
          <a:xfrm>
            <a:off x="22860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Track label"/>
          <p:cNvSpPr txBox="1"/>
          <p:nvPr/>
        </p:nvSpPr>
        <p:spPr>
          <a:xfrm>
            <a:off x="22860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BuildAndTest</a:t>
            </a:r>
          </a:p>
        </p:txBody>
      </p:sp>
      <p:sp>
        <p:nvSpPr>
          <p:cNvPr id="22" name="Track bar"/>
          <p:cNvSpPr/>
          <p:nvPr/>
        </p:nvSpPr>
        <p:spPr>
          <a:xfrm>
            <a:off x="39116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2" name="Track label"/>
          <p:cNvSpPr txBox="1"/>
          <p:nvPr/>
        </p:nvSpPr>
        <p:spPr>
          <a:xfrm>
            <a:off x="39116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Analyzers</a:t>
            </a:r>
          </a:p>
        </p:txBody>
      </p:sp>
      <p:sp>
        <p:nvSpPr>
          <p:cNvPr id="23" name="Track bar"/>
          <p:cNvSpPr/>
          <p:nvPr/>
        </p:nvSpPr>
        <p:spPr>
          <a:xfrm>
            <a:off x="55372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Track label"/>
          <p:cNvSpPr txBox="1"/>
          <p:nvPr/>
        </p:nvSpPr>
        <p:spPr>
          <a:xfrm>
            <a:off x="55372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Refactoring tools</a:t>
            </a:r>
          </a:p>
        </p:txBody>
      </p:sp>
      <p:sp>
        <p:nvSpPr>
          <p:cNvPr id="24" name="Track bar"/>
          <p:cNvSpPr/>
          <p:nvPr/>
        </p:nvSpPr>
        <p:spPr>
          <a:xfrm>
            <a:off x="71628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Track label"/>
          <p:cNvSpPr txBox="1"/>
          <p:nvPr/>
        </p:nvSpPr>
        <p:spPr>
          <a:xfrm>
            <a:off x="71628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2185416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7FB280"/>
                </a:solidFill>
              </a:rPr>
              <a:t>Extract deterministic · 02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BuildAndTest</a:t>
            </a:r>
          </a:p>
        </p:txBody>
      </p:sp>
      <p:sp>
        <p:nvSpPr>
          <p:cNvPr id="20" name="Track bar"/>
          <p:cNvSpPr/>
          <p:nvPr/>
        </p:nvSpPr>
        <p:spPr>
          <a:xfrm>
            <a:off x="6604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Track label"/>
          <p:cNvSpPr txBox="1"/>
          <p:nvPr/>
        </p:nvSpPr>
        <p:spPr>
          <a:xfrm>
            <a:off x="6604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Committers</a:t>
            </a:r>
          </a:p>
        </p:txBody>
      </p:sp>
      <p:sp>
        <p:nvSpPr>
          <p:cNvPr id="21" name="Track bar"/>
          <p:cNvSpPr/>
          <p:nvPr/>
        </p:nvSpPr>
        <p:spPr>
          <a:xfrm>
            <a:off x="2286000" y="5207000"/>
            <a:ext cx="1498600" cy="63500"/>
          </a:xfrm>
          <a:prstGeom prst="rect">
            <a:avLst/>
          </a:prstGeom>
          <a:solidFill>
            <a:srgbClr val="7FB28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Track label"/>
          <p:cNvSpPr txBox="1"/>
          <p:nvPr/>
        </p:nvSpPr>
        <p:spPr>
          <a:xfrm>
            <a:off x="22860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BuildAndTest</a:t>
            </a:r>
          </a:p>
        </p:txBody>
      </p:sp>
      <p:sp>
        <p:nvSpPr>
          <p:cNvPr id="22" name="Track bar"/>
          <p:cNvSpPr/>
          <p:nvPr/>
        </p:nvSpPr>
        <p:spPr>
          <a:xfrm>
            <a:off x="39116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2" name="Track label"/>
          <p:cNvSpPr txBox="1"/>
          <p:nvPr/>
        </p:nvSpPr>
        <p:spPr>
          <a:xfrm>
            <a:off x="39116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Analyzers</a:t>
            </a:r>
          </a:p>
        </p:txBody>
      </p:sp>
      <p:sp>
        <p:nvSpPr>
          <p:cNvPr id="23" name="Track bar"/>
          <p:cNvSpPr/>
          <p:nvPr/>
        </p:nvSpPr>
        <p:spPr>
          <a:xfrm>
            <a:off x="55372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Track label"/>
          <p:cNvSpPr txBox="1"/>
          <p:nvPr/>
        </p:nvSpPr>
        <p:spPr>
          <a:xfrm>
            <a:off x="55372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Refactoring tools</a:t>
            </a:r>
          </a:p>
        </p:txBody>
      </p:sp>
      <p:sp>
        <p:nvSpPr>
          <p:cNvPr id="24" name="Track bar"/>
          <p:cNvSpPr/>
          <p:nvPr/>
        </p:nvSpPr>
        <p:spPr>
          <a:xfrm>
            <a:off x="71628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Track label"/>
          <p:cNvSpPr txBox="1"/>
          <p:nvPr/>
        </p:nvSpPr>
        <p:spPr>
          <a:xfrm>
            <a:off x="71628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273467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7FB280"/>
                </a:solidFill>
              </a:rPr>
              <a:t>Extract deterministic · 03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Analyzers</a:t>
            </a:r>
          </a:p>
        </p:txBody>
      </p:sp>
      <p:sp>
        <p:nvSpPr>
          <p:cNvPr id="20" name="Track bar"/>
          <p:cNvSpPr/>
          <p:nvPr/>
        </p:nvSpPr>
        <p:spPr>
          <a:xfrm>
            <a:off x="6604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Track label"/>
          <p:cNvSpPr txBox="1"/>
          <p:nvPr/>
        </p:nvSpPr>
        <p:spPr>
          <a:xfrm>
            <a:off x="6604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Committers</a:t>
            </a:r>
          </a:p>
        </p:txBody>
      </p:sp>
      <p:sp>
        <p:nvSpPr>
          <p:cNvPr id="21" name="Track bar"/>
          <p:cNvSpPr/>
          <p:nvPr/>
        </p:nvSpPr>
        <p:spPr>
          <a:xfrm>
            <a:off x="22860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Track label"/>
          <p:cNvSpPr txBox="1"/>
          <p:nvPr/>
        </p:nvSpPr>
        <p:spPr>
          <a:xfrm>
            <a:off x="22860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BuildAndTest</a:t>
            </a:r>
          </a:p>
        </p:txBody>
      </p:sp>
      <p:sp>
        <p:nvSpPr>
          <p:cNvPr id="22" name="Track bar"/>
          <p:cNvSpPr/>
          <p:nvPr/>
        </p:nvSpPr>
        <p:spPr>
          <a:xfrm>
            <a:off x="3911600" y="5207000"/>
            <a:ext cx="1498600" cy="63500"/>
          </a:xfrm>
          <a:prstGeom prst="rect">
            <a:avLst/>
          </a:prstGeom>
          <a:solidFill>
            <a:srgbClr val="7FB28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2" name="Track label"/>
          <p:cNvSpPr txBox="1"/>
          <p:nvPr/>
        </p:nvSpPr>
        <p:spPr>
          <a:xfrm>
            <a:off x="39116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Analyzers</a:t>
            </a:r>
          </a:p>
        </p:txBody>
      </p:sp>
      <p:sp>
        <p:nvSpPr>
          <p:cNvPr id="23" name="Track bar"/>
          <p:cNvSpPr/>
          <p:nvPr/>
        </p:nvSpPr>
        <p:spPr>
          <a:xfrm>
            <a:off x="55372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Track label"/>
          <p:cNvSpPr txBox="1"/>
          <p:nvPr/>
        </p:nvSpPr>
        <p:spPr>
          <a:xfrm>
            <a:off x="55372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Refactoring tools</a:t>
            </a:r>
          </a:p>
        </p:txBody>
      </p:sp>
      <p:sp>
        <p:nvSpPr>
          <p:cNvPr id="24" name="Track bar"/>
          <p:cNvSpPr/>
          <p:nvPr/>
        </p:nvSpPr>
        <p:spPr>
          <a:xfrm>
            <a:off x="71628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Track label"/>
          <p:cNvSpPr txBox="1"/>
          <p:nvPr/>
        </p:nvSpPr>
        <p:spPr>
          <a:xfrm>
            <a:off x="71628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673841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7FB280"/>
                </a:solidFill>
              </a:rPr>
              <a:t>Extract deterministic · 04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Refactoring tools</a:t>
            </a:r>
          </a:p>
        </p:txBody>
      </p:sp>
      <p:sp>
        <p:nvSpPr>
          <p:cNvPr id="20" name="Track bar"/>
          <p:cNvSpPr/>
          <p:nvPr/>
        </p:nvSpPr>
        <p:spPr>
          <a:xfrm>
            <a:off x="6604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Track label"/>
          <p:cNvSpPr txBox="1"/>
          <p:nvPr/>
        </p:nvSpPr>
        <p:spPr>
          <a:xfrm>
            <a:off x="6604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Committers</a:t>
            </a:r>
          </a:p>
        </p:txBody>
      </p:sp>
      <p:sp>
        <p:nvSpPr>
          <p:cNvPr id="21" name="Track bar"/>
          <p:cNvSpPr/>
          <p:nvPr/>
        </p:nvSpPr>
        <p:spPr>
          <a:xfrm>
            <a:off x="22860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Track label"/>
          <p:cNvSpPr txBox="1"/>
          <p:nvPr/>
        </p:nvSpPr>
        <p:spPr>
          <a:xfrm>
            <a:off x="22860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BuildAndTest</a:t>
            </a:r>
          </a:p>
        </p:txBody>
      </p:sp>
      <p:sp>
        <p:nvSpPr>
          <p:cNvPr id="22" name="Track bar"/>
          <p:cNvSpPr/>
          <p:nvPr/>
        </p:nvSpPr>
        <p:spPr>
          <a:xfrm>
            <a:off x="39116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2" name="Track label"/>
          <p:cNvSpPr txBox="1"/>
          <p:nvPr/>
        </p:nvSpPr>
        <p:spPr>
          <a:xfrm>
            <a:off x="39116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Analyzers</a:t>
            </a:r>
          </a:p>
        </p:txBody>
      </p:sp>
      <p:sp>
        <p:nvSpPr>
          <p:cNvPr id="23" name="Track bar"/>
          <p:cNvSpPr/>
          <p:nvPr/>
        </p:nvSpPr>
        <p:spPr>
          <a:xfrm>
            <a:off x="5537200" y="5207000"/>
            <a:ext cx="1498600" cy="63500"/>
          </a:xfrm>
          <a:prstGeom prst="rect">
            <a:avLst/>
          </a:prstGeom>
          <a:solidFill>
            <a:srgbClr val="7FB28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Track label"/>
          <p:cNvSpPr txBox="1"/>
          <p:nvPr/>
        </p:nvSpPr>
        <p:spPr>
          <a:xfrm>
            <a:off x="55372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Refactoring tools</a:t>
            </a:r>
          </a:p>
        </p:txBody>
      </p:sp>
      <p:sp>
        <p:nvSpPr>
          <p:cNvPr id="24" name="Track bar"/>
          <p:cNvSpPr/>
          <p:nvPr/>
        </p:nvSpPr>
        <p:spPr>
          <a:xfrm>
            <a:off x="71628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Track label"/>
          <p:cNvSpPr txBox="1"/>
          <p:nvPr/>
        </p:nvSpPr>
        <p:spPr>
          <a:xfrm>
            <a:off x="71628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3777176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7FB280"/>
                </a:solidFill>
              </a:rPr>
              <a:t>Extract deterministic · 05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Detectors</a:t>
            </a:r>
          </a:p>
        </p:txBody>
      </p:sp>
      <p:sp>
        <p:nvSpPr>
          <p:cNvPr id="20" name="Track bar"/>
          <p:cNvSpPr/>
          <p:nvPr/>
        </p:nvSpPr>
        <p:spPr>
          <a:xfrm>
            <a:off x="6604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0" name="Track label"/>
          <p:cNvSpPr txBox="1"/>
          <p:nvPr/>
        </p:nvSpPr>
        <p:spPr>
          <a:xfrm>
            <a:off x="6604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Committers</a:t>
            </a:r>
          </a:p>
        </p:txBody>
      </p:sp>
      <p:sp>
        <p:nvSpPr>
          <p:cNvPr id="21" name="Track bar"/>
          <p:cNvSpPr/>
          <p:nvPr/>
        </p:nvSpPr>
        <p:spPr>
          <a:xfrm>
            <a:off x="22860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1" name="Track label"/>
          <p:cNvSpPr txBox="1"/>
          <p:nvPr/>
        </p:nvSpPr>
        <p:spPr>
          <a:xfrm>
            <a:off x="22860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BuildAndTest</a:t>
            </a:r>
          </a:p>
        </p:txBody>
      </p:sp>
      <p:sp>
        <p:nvSpPr>
          <p:cNvPr id="22" name="Track bar"/>
          <p:cNvSpPr/>
          <p:nvPr/>
        </p:nvSpPr>
        <p:spPr>
          <a:xfrm>
            <a:off x="39116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2" name="Track label"/>
          <p:cNvSpPr txBox="1"/>
          <p:nvPr/>
        </p:nvSpPr>
        <p:spPr>
          <a:xfrm>
            <a:off x="39116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Analyzers</a:t>
            </a:r>
          </a:p>
        </p:txBody>
      </p:sp>
      <p:sp>
        <p:nvSpPr>
          <p:cNvPr id="23" name="Track bar"/>
          <p:cNvSpPr/>
          <p:nvPr/>
        </p:nvSpPr>
        <p:spPr>
          <a:xfrm>
            <a:off x="5537200" y="5207000"/>
            <a:ext cx="1498600" cy="6350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3" name="Track label"/>
          <p:cNvSpPr txBox="1"/>
          <p:nvPr/>
        </p:nvSpPr>
        <p:spPr>
          <a:xfrm>
            <a:off x="55372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A9B8CA"/>
                </a:solidFill>
              </a:rPr>
              <a:t>Refactoring tools</a:t>
            </a:r>
          </a:p>
        </p:txBody>
      </p:sp>
      <p:sp>
        <p:nvSpPr>
          <p:cNvPr id="24" name="Track bar"/>
          <p:cNvSpPr/>
          <p:nvPr/>
        </p:nvSpPr>
        <p:spPr>
          <a:xfrm>
            <a:off x="7162800" y="5207000"/>
            <a:ext cx="1498600" cy="63500"/>
          </a:xfrm>
          <a:prstGeom prst="rect">
            <a:avLst/>
          </a:prstGeom>
          <a:solidFill>
            <a:srgbClr val="7FB28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34" name="Track label"/>
          <p:cNvSpPr txBox="1"/>
          <p:nvPr/>
        </p:nvSpPr>
        <p:spPr>
          <a:xfrm>
            <a:off x="7162800" y="53594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Detectors</a:t>
            </a:r>
          </a:p>
        </p:txBody>
      </p:sp>
    </p:spTree>
    <p:extLst>
      <p:ext uri="{BB962C8B-B14F-4D97-AF65-F5344CB8AC3E}">
        <p14:creationId xmlns:p14="http://schemas.microsoft.com/office/powerpoint/2010/main" val="3924486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60400" y="2235200"/>
            <a:ext cx="762000" cy="50800"/>
          </a:xfrm>
          <a:prstGeom prst="rect">
            <a:avLst/>
          </a:prstGeom>
          <a:solidFill>
            <a:srgbClr val="5A7D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1" name="Label"/>
          <p:cNvSpPr txBox="1"/>
          <p:nvPr/>
        </p:nvSpPr>
        <p:spPr>
          <a:xfrm>
            <a:off x="660400" y="241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5A7D5A"/>
                </a:solidFill>
              </a:rPr>
              <a:t>Fast feedback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60400" y="2794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400" b="1" dirty="0">
                <a:solidFill>
                  <a:srgbClr val="1F3A5F"/>
                </a:solidFill>
              </a:rPr>
              <a:t>The quick check</a:t>
            </a:r>
          </a:p>
        </p:txBody>
      </p:sp>
    </p:spTree>
    <p:extLst>
      <p:ext uri="{BB962C8B-B14F-4D97-AF65-F5344CB8AC3E}">
        <p14:creationId xmlns:p14="http://schemas.microsoft.com/office/powerpoint/2010/main" val="416974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Sensors for code smells</a:t>
            </a:r>
          </a:p>
        </p:txBody>
      </p:sp>
      <p:sp>
        <p:nvSpPr>
          <p:cNvPr id="11" name="Habit Hooks card"/>
          <p:cNvSpPr/>
          <p:nvPr/>
        </p:nvSpPr>
        <p:spPr>
          <a:xfrm>
            <a:off x="571500" y="2095500"/>
            <a:ext cx="8001000" cy="19050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r>
              <a:rPr lang="en-US" sz="1400" b="1" dirty="0">
                <a:solidFill>
                  <a:srgbClr val="7FB280"/>
                </a:solidFill>
              </a:rPr>
              <a:t>Tool</a:t>
            </a:r>
          </a:p>
          <a:p>
            <a:pPr>
              <a:spcBef>
                <a:spcPts val="400"/>
              </a:spcBef>
            </a:pPr>
            <a:r>
              <a:rPr lang="en-US" sz="2800" b="1" dirty="0">
                <a:solidFill>
                  <a:srgbClr val="FFFFFF"/>
                </a:solidFill>
              </a:rPr>
              <a:t>Habit Hooks</a:t>
            </a:r>
          </a:p>
          <a:p>
            <a:pPr>
              <a:spcBef>
                <a:spcPts val="800"/>
              </a:spcBef>
            </a:pPr>
            <a:r>
              <a:rPr lang="en-US" sz="1600" dirty="0">
                <a:solidFill>
                  <a:srgbClr val="DCE3EC"/>
                </a:solidFill>
              </a:rPr>
              <a:t>Runs your linters, then turns each violation into a coaching guide the agent can act on</a:t>
            </a:r>
          </a:p>
          <a:p>
            <a:pPr>
              <a:spcBef>
                <a:spcPts val="1200"/>
              </a:spcBef>
            </a:pPr>
            <a:r>
              <a:rPr lang="en-US" sz="1400" b="1" dirty="0">
                <a:solidFill>
                  <a:srgbClr val="7FB280"/>
                </a:solidFill>
              </a:rPr>
              <a:t>github.com/habit-hooks/habit-hooks</a:t>
            </a:r>
          </a:p>
        </p:txBody>
      </p:sp>
    </p:spTree>
    <p:extLst>
      <p:ext uri="{BB962C8B-B14F-4D97-AF65-F5344CB8AC3E}">
        <p14:creationId xmlns:p14="http://schemas.microsoft.com/office/powerpoint/2010/main" val="200585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71500" y="11684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US" sz="3200" b="1" dirty="0">
                <a:solidFill>
                  <a:srgbClr val="1F3A5F"/>
                </a:solidFill>
              </a:rPr>
              <a:t>Internal documents</a:t>
            </a:r>
          </a:p>
        </p:txBody>
      </p:sp>
      <p:sp>
        <p:nvSpPr>
          <p:cNvPr id="11" name="Card"/>
          <p:cNvSpPr/>
          <p:nvPr/>
        </p:nvSpPr>
        <p:spPr>
          <a:xfrm>
            <a:off x="571500" y="2095500"/>
            <a:ext cx="8001000" cy="1397000"/>
          </a:xfrm>
          <a:prstGeom prst="roundRect">
            <a:avLst>
              <a:gd name="adj" fmla="val 6000"/>
            </a:avLst>
          </a:prstGeom>
          <a:solidFill>
            <a:srgbClr val="415A77"/>
          </a:solidFill>
          <a:ln>
            <a:noFill/>
          </a:ln>
        </p:spPr>
        <p:txBody>
          <a:bodyPr wrap="square" lIns="254000" tIns="254000" rIns="254000" bIns="254000" anchor="ctr">
            <a:no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Extract knowledge</a:t>
            </a:r>
          </a:p>
        </p:txBody>
      </p:sp>
    </p:spTree>
    <p:extLst>
      <p:ext uri="{BB962C8B-B14F-4D97-AF65-F5344CB8AC3E}">
        <p14:creationId xmlns:p14="http://schemas.microsoft.com/office/powerpoint/2010/main" val="362399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7A52-AA40-4516-227C-5D414151C90A}"/>
              </a:ext>
            </a:extLst>
          </p:cNvPr>
          <p:cNvSpPr txBox="1">
            <a:spLocks/>
          </p:cNvSpPr>
          <p:nvPr/>
        </p:nvSpPr>
        <p:spPr>
          <a:xfrm>
            <a:off x="415775" y="1399848"/>
            <a:ext cx="6858000" cy="17907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50" b="1" dirty="0">
                <a:solidFill>
                  <a:srgbClr val="1F3A5F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CD058-0EB5-9087-F5EC-15E68C131B6C}"/>
              </a:ext>
            </a:extLst>
          </p:cNvPr>
          <p:cNvSpPr txBox="1"/>
          <p:nvPr/>
        </p:nvSpPr>
        <p:spPr>
          <a:xfrm>
            <a:off x="6239034" y="4868879"/>
            <a:ext cx="190565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chemeClr val="bg1">
                    <a:lumMod val="65000"/>
                  </a:schemeClr>
                </a:solidFill>
              </a:rPr>
              <a:t>Llewellyn Falco</a:t>
            </a:r>
          </a:p>
        </p:txBody>
      </p:sp>
      <p:pic>
        <p:nvPicPr>
          <p:cNvPr id="4" name="Picture 3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81E53284-40A4-F455-B0D7-1879BF65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51023"/>
            <a:ext cx="2267712" cy="23502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5D3FC-DDD6-7C62-1607-215FD9FDE3E3}"/>
              </a:ext>
            </a:extLst>
          </p:cNvPr>
          <p:cNvSpPr txBox="1"/>
          <p:nvPr/>
        </p:nvSpPr>
        <p:spPr>
          <a:xfrm>
            <a:off x="415775" y="5467715"/>
            <a:ext cx="457043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 err="1"/>
              <a:t>github.com</a:t>
            </a:r>
            <a:r>
              <a:rPr lang="en-US" sz="1350" dirty="0"/>
              <a:t>/</a:t>
            </a:r>
            <a:r>
              <a:rPr lang="en-US" sz="1350" dirty="0" err="1"/>
              <a:t>isidore</a:t>
            </a:r>
            <a:r>
              <a:rPr lang="en-US" sz="1350" dirty="0"/>
              <a:t>/Talks/blob/master/</a:t>
            </a:r>
            <a:r>
              <a:rPr lang="en-US" sz="1350" dirty="0" err="1"/>
              <a:t>AiInLegacyCode.md</a:t>
            </a:r>
            <a:endParaRPr lang="en-US" sz="135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6414B4-2634-27CD-BC1C-000EA0E8B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902" y="2091377"/>
            <a:ext cx="3013225" cy="301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1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48415-B9BD-815B-C7DA-B86917435D6E}"/>
              </a:ext>
            </a:extLst>
          </p:cNvPr>
          <p:cNvSpPr txBox="1"/>
          <p:nvPr/>
        </p:nvSpPr>
        <p:spPr>
          <a:xfrm>
            <a:off x="571500" y="1314450"/>
            <a:ext cx="2905125" cy="4616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F3A5F"/>
                </a:solidFill>
              </a:rPr>
              <a:t>Style Guide</a:t>
            </a:r>
          </a:p>
        </p:txBody>
      </p:sp>
      <p:sp>
        <p:nvSpPr>
          <p:cNvPr id="100" name="lbl"/>
          <p:cNvSpPr txBox="1"/>
          <p:nvPr/>
        </p:nvSpPr>
        <p:spPr>
          <a:xfrm>
            <a:off x="571500" y="1857375"/>
            <a:ext cx="2857500" cy="2286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l"/>
            <a:r>
              <a:rPr lang="en-US" sz="1050" b="1" dirty="0">
                <a:solidFill>
                  <a:srgbClr val="415A77"/>
                </a:solidFill>
              </a:rPr>
              <a:t>Color Palette</a:t>
            </a:r>
          </a:p>
        </p:txBody>
      </p:sp>
      <p:sp>
        <p:nvSpPr>
          <p:cNvPr id="101" name="div"/>
          <p:cNvSpPr/>
          <p:nvPr/>
        </p:nvSpPr>
        <p:spPr>
          <a:xfrm>
            <a:off x="571500" y="2114550"/>
            <a:ext cx="8001000" cy="1143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txBody>
          <a:bodyPr/>
          <a:lstStyle/>
          <a:p>
            <a:endParaRPr sz="1350"/>
          </a:p>
        </p:txBody>
      </p:sp>
      <p:sp>
        <p:nvSpPr>
          <p:cNvPr id="102" name="sw"/>
          <p:cNvSpPr/>
          <p:nvPr/>
        </p:nvSpPr>
        <p:spPr>
          <a:xfrm>
            <a:off x="5715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#1F3A5F</a:t>
            </a:r>
          </a:p>
        </p:txBody>
      </p:sp>
      <p:sp>
        <p:nvSpPr>
          <p:cNvPr id="103" name="swlbl"/>
          <p:cNvSpPr txBox="1"/>
          <p:nvPr/>
        </p:nvSpPr>
        <p:spPr>
          <a:xfrm>
            <a:off x="5715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Navy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Primary</a:t>
            </a:r>
          </a:p>
        </p:txBody>
      </p:sp>
      <p:sp>
        <p:nvSpPr>
          <p:cNvPr id="104" name="sw"/>
          <p:cNvSpPr/>
          <p:nvPr/>
        </p:nvSpPr>
        <p:spPr>
          <a:xfrm>
            <a:off x="18669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415A77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#415A77</a:t>
            </a:r>
          </a:p>
        </p:txBody>
      </p:sp>
      <p:sp>
        <p:nvSpPr>
          <p:cNvPr id="105" name="swlbl"/>
          <p:cNvSpPr txBox="1"/>
          <p:nvPr/>
        </p:nvSpPr>
        <p:spPr>
          <a:xfrm>
            <a:off x="18669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Slate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Secondary</a:t>
            </a:r>
          </a:p>
        </p:txBody>
      </p:sp>
      <p:sp>
        <p:nvSpPr>
          <p:cNvPr id="106" name="sw"/>
          <p:cNvSpPr/>
          <p:nvPr/>
        </p:nvSpPr>
        <p:spPr>
          <a:xfrm>
            <a:off x="31623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5A7D5A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#5A7D5A</a:t>
            </a:r>
          </a:p>
        </p:txBody>
      </p:sp>
      <p:sp>
        <p:nvSpPr>
          <p:cNvPr id="107" name="swlbl"/>
          <p:cNvSpPr txBox="1"/>
          <p:nvPr/>
        </p:nvSpPr>
        <p:spPr>
          <a:xfrm>
            <a:off x="31623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Green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Accent</a:t>
            </a:r>
          </a:p>
        </p:txBody>
      </p:sp>
      <p:sp>
        <p:nvSpPr>
          <p:cNvPr id="108" name="sw"/>
          <p:cNvSpPr/>
          <p:nvPr/>
        </p:nvSpPr>
        <p:spPr>
          <a:xfrm>
            <a:off x="44577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A14B4B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#A14B4B</a:t>
            </a:r>
          </a:p>
        </p:txBody>
      </p:sp>
      <p:sp>
        <p:nvSpPr>
          <p:cNvPr id="109" name="swlbl"/>
          <p:cNvSpPr txBox="1"/>
          <p:nvPr/>
        </p:nvSpPr>
        <p:spPr>
          <a:xfrm>
            <a:off x="44577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Rust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Alert</a:t>
            </a:r>
          </a:p>
        </p:txBody>
      </p:sp>
      <p:sp>
        <p:nvSpPr>
          <p:cNvPr id="110" name="sw"/>
          <p:cNvSpPr/>
          <p:nvPr/>
        </p:nvSpPr>
        <p:spPr>
          <a:xfrm>
            <a:off x="57531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FFFFFF"/>
                </a:solidFill>
              </a:rPr>
              <a:t>#6B7280</a:t>
            </a:r>
          </a:p>
        </p:txBody>
      </p:sp>
      <p:sp>
        <p:nvSpPr>
          <p:cNvPr id="111" name="swlbl"/>
          <p:cNvSpPr txBox="1"/>
          <p:nvPr/>
        </p:nvSpPr>
        <p:spPr>
          <a:xfrm>
            <a:off x="57531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Gray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Neutral</a:t>
            </a:r>
          </a:p>
        </p:txBody>
      </p:sp>
      <p:sp>
        <p:nvSpPr>
          <p:cNvPr id="112" name="sw"/>
          <p:cNvSpPr/>
          <p:nvPr/>
        </p:nvSpPr>
        <p:spPr>
          <a:xfrm>
            <a:off x="7048500" y="2238375"/>
            <a:ext cx="1162050" cy="742950"/>
          </a:xfrm>
          <a:prstGeom prst="roundRect">
            <a:avLst>
              <a:gd name="adj" fmla="val 8000"/>
            </a:avLst>
          </a:prstGeom>
          <a:solidFill>
            <a:srgbClr val="DCE3EC"/>
          </a:solidFill>
          <a:ln>
            <a:noFill/>
          </a:ln>
        </p:spPr>
        <p:txBody>
          <a:bodyPr lIns="0" rIns="0" anchor="ctr"/>
          <a:lstStyle/>
          <a:p>
            <a:pPr algn="ctr">
              <a:buNone/>
            </a:pPr>
            <a:r>
              <a:rPr lang="en-US" sz="975" b="1" dirty="0">
                <a:solidFill>
                  <a:srgbClr val="1F3A5F"/>
                </a:solidFill>
              </a:rPr>
              <a:t>#DCE3EC</a:t>
            </a:r>
          </a:p>
        </p:txBody>
      </p:sp>
      <p:sp>
        <p:nvSpPr>
          <p:cNvPr id="113" name="swlbl"/>
          <p:cNvSpPr txBox="1"/>
          <p:nvPr/>
        </p:nvSpPr>
        <p:spPr>
          <a:xfrm>
            <a:off x="7048500" y="3019425"/>
            <a:ext cx="1162050" cy="3238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rgbClr val="1F3A5F"/>
                </a:solidFill>
              </a:rPr>
              <a:t>Light</a:t>
            </a:r>
          </a:p>
          <a:p>
            <a:pPr algn="ctr"/>
            <a:r>
              <a:rPr lang="en-US" sz="825" dirty="0">
                <a:solidFill>
                  <a:srgbClr val="6B7280"/>
                </a:solidFill>
              </a:rPr>
              <a:t>Text/BG</a:t>
            </a:r>
          </a:p>
        </p:txBody>
      </p:sp>
      <p:sp>
        <p:nvSpPr>
          <p:cNvPr id="114" name="lbl"/>
          <p:cNvSpPr txBox="1"/>
          <p:nvPr/>
        </p:nvSpPr>
        <p:spPr>
          <a:xfrm>
            <a:off x="571500" y="3619500"/>
            <a:ext cx="3429000" cy="2286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l"/>
            <a:r>
              <a:rPr lang="en-US" sz="1050" b="1" dirty="0">
                <a:solidFill>
                  <a:srgbClr val="415A77"/>
                </a:solidFill>
              </a:rPr>
              <a:t>Typography</a:t>
            </a:r>
          </a:p>
        </p:txBody>
      </p:sp>
      <p:sp>
        <p:nvSpPr>
          <p:cNvPr id="115" name="div"/>
          <p:cNvSpPr/>
          <p:nvPr/>
        </p:nvSpPr>
        <p:spPr>
          <a:xfrm>
            <a:off x="571500" y="3876675"/>
            <a:ext cx="3810000" cy="1143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txBody>
          <a:bodyPr/>
          <a:lstStyle/>
          <a:p>
            <a:endParaRPr sz="1350"/>
          </a:p>
        </p:txBody>
      </p:sp>
      <p:sp>
        <p:nvSpPr>
          <p:cNvPr id="116" name="typo"/>
          <p:cNvSpPr txBox="1"/>
          <p:nvPr/>
        </p:nvSpPr>
        <p:spPr>
          <a:xfrm>
            <a:off x="571500" y="4000500"/>
            <a:ext cx="38100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b="1" dirty="0">
                <a:solidFill>
                  <a:srgbClr val="1F3A5F"/>
                </a:solidFill>
              </a:rPr>
              <a:t>Title — 32pt Bold</a:t>
            </a:r>
          </a:p>
        </p:txBody>
      </p:sp>
      <p:sp>
        <p:nvSpPr>
          <p:cNvPr id="117" name="typo"/>
          <p:cNvSpPr txBox="1"/>
          <p:nvPr/>
        </p:nvSpPr>
        <p:spPr>
          <a:xfrm>
            <a:off x="571500" y="4400550"/>
            <a:ext cx="38100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350" b="1" dirty="0">
                <a:solidFill>
                  <a:srgbClr val="415A77"/>
                </a:solidFill>
              </a:rPr>
              <a:t>Card Header — 18pt Bold</a:t>
            </a:r>
          </a:p>
        </p:txBody>
      </p:sp>
      <p:sp>
        <p:nvSpPr>
          <p:cNvPr id="118" name="typo"/>
          <p:cNvSpPr txBox="1"/>
          <p:nvPr/>
        </p:nvSpPr>
        <p:spPr>
          <a:xfrm>
            <a:off x="571500" y="4800600"/>
            <a:ext cx="38100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050" dirty="0">
                <a:solidFill>
                  <a:srgbClr val="6B7280"/>
                </a:solidFill>
              </a:rPr>
              <a:t>Body Text — 14pt Regular</a:t>
            </a:r>
          </a:p>
        </p:txBody>
      </p:sp>
      <p:sp>
        <p:nvSpPr>
          <p:cNvPr id="119" name="lbl"/>
          <p:cNvSpPr txBox="1"/>
          <p:nvPr/>
        </p:nvSpPr>
        <p:spPr>
          <a:xfrm>
            <a:off x="4762500" y="3619500"/>
            <a:ext cx="3810000" cy="2286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l"/>
            <a:r>
              <a:rPr lang="en-US" sz="1050" b="1" dirty="0">
                <a:solidFill>
                  <a:srgbClr val="415A77"/>
                </a:solidFill>
              </a:rPr>
              <a:t>Components</a:t>
            </a:r>
          </a:p>
        </p:txBody>
      </p:sp>
      <p:sp>
        <p:nvSpPr>
          <p:cNvPr id="120" name="div"/>
          <p:cNvSpPr/>
          <p:nvPr/>
        </p:nvSpPr>
        <p:spPr>
          <a:xfrm>
            <a:off x="4762500" y="3876675"/>
            <a:ext cx="3810000" cy="11430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txBody>
          <a:bodyPr/>
          <a:lstStyle/>
          <a:p>
            <a:endParaRPr sz="1350"/>
          </a:p>
        </p:txBody>
      </p:sp>
      <p:sp>
        <p:nvSpPr>
          <p:cNvPr id="121" name="card"/>
          <p:cNvSpPr/>
          <p:nvPr/>
        </p:nvSpPr>
        <p:spPr>
          <a:xfrm>
            <a:off x="4762500" y="4019550"/>
            <a:ext cx="2047875" cy="1238250"/>
          </a:xfrm>
          <a:prstGeom prst="roundRect">
            <a:avLst>
              <a:gd name="adj" fmla="val 8000"/>
            </a:avLst>
          </a:prstGeom>
          <a:solidFill>
            <a:srgbClr val="415A77"/>
          </a:solidFill>
          <a:ln>
            <a:noFill/>
          </a:ln>
        </p:spPr>
        <p:txBody>
          <a:bodyPr lIns="68580" rIns="6858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Card Title</a:t>
            </a:r>
          </a:p>
          <a:p>
            <a:pPr algn="ctr">
              <a:spcBef>
                <a:spcPts val="450"/>
              </a:spcBef>
            </a:pPr>
            <a:r>
              <a:rPr lang="en-US" sz="1050" dirty="0">
                <a:solidFill>
                  <a:srgbClr val="DCE3EC"/>
                </a:solidFill>
              </a:rPr>
              <a:t>Supporting body text with an </a:t>
            </a:r>
            <a:r>
              <a:rPr lang="en-US" sz="1050" b="1" dirty="0">
                <a:solidFill>
                  <a:srgbClr val="7FB280"/>
                </a:solidFill>
              </a:rPr>
              <a:t>accent</a:t>
            </a:r>
            <a:r>
              <a:rPr lang="en-US" sz="1050" dirty="0">
                <a:solidFill>
                  <a:srgbClr val="DCE3EC"/>
                </a:solidFill>
              </a:rPr>
              <a:t> highlight</a:t>
            </a:r>
          </a:p>
        </p:txBody>
      </p:sp>
      <p:sp>
        <p:nvSpPr>
          <p:cNvPr id="122" name="arrow"/>
          <p:cNvSpPr/>
          <p:nvPr/>
        </p:nvSpPr>
        <p:spPr>
          <a:xfrm>
            <a:off x="6934200" y="4562475"/>
            <a:ext cx="26670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sz="1350"/>
          </a:p>
        </p:txBody>
      </p:sp>
      <p:sp>
        <p:nvSpPr>
          <p:cNvPr id="123" name="card2"/>
          <p:cNvSpPr/>
          <p:nvPr/>
        </p:nvSpPr>
        <p:spPr>
          <a:xfrm>
            <a:off x="7315200" y="4019550"/>
            <a:ext cx="1257300" cy="123825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lIns="48006" rIns="48006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226469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 txBox="1"/>
          <p:nvPr/>
        </p:nvSpPr>
        <p:spPr>
          <a:xfrm>
            <a:off x="571500" y="1314450"/>
            <a:ext cx="4762500" cy="43815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2400" b="1" dirty="0">
                <a:solidFill>
                  <a:srgbClr val="1F3A5F"/>
                </a:solidFill>
              </a:rPr>
              <a:t>Design Philosophy</a:t>
            </a:r>
          </a:p>
        </p:txBody>
      </p:sp>
      <p:sp>
        <p:nvSpPr>
          <p:cNvPr id="201" name="intro"/>
          <p:cNvSpPr txBox="1"/>
          <p:nvPr/>
        </p:nvSpPr>
        <p:spPr>
          <a:xfrm>
            <a:off x="571500" y="1885950"/>
            <a:ext cx="8001000" cy="4572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lang="en-US" sz="1200" dirty="0">
                <a:solidFill>
                  <a:srgbClr val="415A77"/>
                </a:solidFill>
              </a:rPr>
              <a:t>Every choice in this system serves one goal: making complex ideas </a:t>
            </a:r>
            <a:r>
              <a:rPr lang="en-US" sz="1200" b="1" dirty="0">
                <a:solidFill>
                  <a:srgbClr val="5A7D5A"/>
                </a:solidFill>
              </a:rPr>
              <a:t>clear</a:t>
            </a:r>
            <a:r>
              <a:rPr lang="en-US" sz="1200" dirty="0">
                <a:solidFill>
                  <a:srgbClr val="415A77"/>
                </a:solidFill>
              </a:rPr>
              <a:t>,</a:t>
            </a:r>
            <a:r>
              <a:rPr lang="en-US" sz="1200" b="1" dirty="0">
                <a:solidFill>
                  <a:srgbClr val="5A7D5A"/>
                </a:solidFill>
              </a:rPr>
              <a:t> easy</a:t>
            </a:r>
            <a:r>
              <a:rPr lang="en-US" sz="1200" dirty="0">
                <a:solidFill>
                  <a:srgbClr val="415A77"/>
                </a:solidFill>
              </a:rPr>
              <a:t> to </a:t>
            </a:r>
            <a:r>
              <a:rPr lang="en-US" sz="1200" b="1" dirty="0">
                <a:solidFill>
                  <a:srgbClr val="5A7D5A"/>
                </a:solidFill>
              </a:rPr>
              <a:t> visualize</a:t>
            </a:r>
            <a:r>
              <a:rPr lang="en-US" sz="1200" dirty="0">
                <a:solidFill>
                  <a:srgbClr val="415A77"/>
                </a:solidFill>
              </a:rPr>
              <a:t>, and easy to </a:t>
            </a:r>
            <a:r>
              <a:rPr lang="en-US" sz="1200" b="1" dirty="0">
                <a:solidFill>
                  <a:srgbClr val="5A7D5A"/>
                </a:solidFill>
              </a:rPr>
              <a:t>follow</a:t>
            </a:r>
            <a:endParaRPr lang="en-US" sz="1200" dirty="0">
              <a:solidFill>
                <a:srgbClr val="415A77"/>
              </a:solidFill>
            </a:endParaRPr>
          </a:p>
        </p:txBody>
      </p:sp>
      <p:sp>
        <p:nvSpPr>
          <p:cNvPr id="202" name="card"/>
          <p:cNvSpPr/>
          <p:nvPr/>
        </p:nvSpPr>
        <p:spPr>
          <a:xfrm>
            <a:off x="571500" y="2552700"/>
            <a:ext cx="1885950" cy="238125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lIns="102870" tIns="102870" rIns="102870" bIns="102870" anchor="t"/>
          <a:lstStyle/>
          <a:p>
            <a:pPr algn="l">
              <a:buNone/>
            </a:pPr>
            <a:r>
              <a:rPr lang="en-US" sz="825" b="1" dirty="0">
                <a:solidFill>
                  <a:srgbClr val="7FB280"/>
                </a:solidFill>
              </a:rPr>
              <a:t>01</a:t>
            </a:r>
          </a:p>
          <a:p>
            <a:pPr>
              <a:spcBef>
                <a:spcPts val="300"/>
              </a:spcBef>
            </a:pPr>
            <a:r>
              <a:rPr lang="en-US" sz="1275" b="1" dirty="0">
                <a:solidFill>
                  <a:srgbClr val="FFFFFF"/>
                </a:solidFill>
              </a:rPr>
              <a:t>Clarity over decoration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Structure carries the </a:t>
            </a:r>
            <a:r>
              <a:rPr lang="en-US" sz="1050" b="1" dirty="0">
                <a:solidFill>
                  <a:srgbClr val="DCE3EC"/>
                </a:solidFill>
              </a:rPr>
              <a:t>meaning</a:t>
            </a:r>
            <a:r>
              <a:rPr lang="en-US" sz="1050" dirty="0">
                <a:solidFill>
                  <a:srgbClr val="DCE3EC"/>
                </a:solidFill>
              </a:rPr>
              <a:t>.</a:t>
            </a:r>
          </a:p>
          <a:p>
            <a:pPr>
              <a:spcBef>
                <a:spcPts val="600"/>
              </a:spcBef>
            </a:pPr>
            <a:br>
              <a:rPr lang="en-US" sz="1050" dirty="0">
                <a:solidFill>
                  <a:srgbClr val="DCE3EC"/>
                </a:solidFill>
              </a:rPr>
            </a:br>
            <a:r>
              <a:rPr lang="en-US" sz="1050" dirty="0">
                <a:solidFill>
                  <a:srgbClr val="DCE3EC"/>
                </a:solidFill>
              </a:rPr>
              <a:t>Color and shape signal hierarchy and state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Never ornament for its own sake.</a:t>
            </a:r>
          </a:p>
        </p:txBody>
      </p:sp>
      <p:sp>
        <p:nvSpPr>
          <p:cNvPr id="203" name="card"/>
          <p:cNvSpPr/>
          <p:nvPr/>
        </p:nvSpPr>
        <p:spPr>
          <a:xfrm>
            <a:off x="2609850" y="2552700"/>
            <a:ext cx="1885950" cy="2381250"/>
          </a:xfrm>
          <a:prstGeom prst="roundRect">
            <a:avLst>
              <a:gd name="adj" fmla="val 6000"/>
            </a:avLst>
          </a:prstGeom>
          <a:solidFill>
            <a:srgbClr val="415A77"/>
          </a:solidFill>
          <a:ln>
            <a:noFill/>
          </a:ln>
        </p:spPr>
        <p:txBody>
          <a:bodyPr lIns="102870" tIns="102870" rIns="102870" bIns="102870" anchor="t"/>
          <a:lstStyle/>
          <a:p>
            <a:pPr algn="l">
              <a:buNone/>
            </a:pPr>
            <a:r>
              <a:rPr lang="en-US" sz="825" b="1" dirty="0">
                <a:solidFill>
                  <a:srgbClr val="7FB280"/>
                </a:solidFill>
              </a:rPr>
              <a:t>02</a:t>
            </a:r>
          </a:p>
          <a:p>
            <a:pPr>
              <a:spcBef>
                <a:spcPts val="300"/>
              </a:spcBef>
            </a:pPr>
            <a:r>
              <a:rPr lang="en-US" sz="1275" b="1" dirty="0">
                <a:solidFill>
                  <a:srgbClr val="FFFFFF"/>
                </a:solidFill>
              </a:rPr>
              <a:t>Calm, confident palette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Navy and slate set a steady tone.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Green and rust appear sparingly.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Color marks safe and risk — nothing more.</a:t>
            </a:r>
          </a:p>
        </p:txBody>
      </p:sp>
      <p:sp>
        <p:nvSpPr>
          <p:cNvPr id="204" name="card"/>
          <p:cNvSpPr/>
          <p:nvPr/>
        </p:nvSpPr>
        <p:spPr>
          <a:xfrm>
            <a:off x="4648200" y="2552700"/>
            <a:ext cx="1885950" cy="2381250"/>
          </a:xfrm>
          <a:prstGeom prst="roundRect">
            <a:avLst>
              <a:gd name="adj" fmla="val 6000"/>
            </a:avLst>
          </a:prstGeom>
          <a:solidFill>
            <a:srgbClr val="5A7D5A"/>
          </a:solidFill>
          <a:ln>
            <a:noFill/>
          </a:ln>
        </p:spPr>
        <p:txBody>
          <a:bodyPr lIns="102870" tIns="102870" rIns="102870" bIns="102870" anchor="t"/>
          <a:lstStyle/>
          <a:p>
            <a:pPr algn="l">
              <a:buNone/>
            </a:pPr>
            <a:r>
              <a:rPr lang="en-US" sz="825" b="1" dirty="0">
                <a:solidFill>
                  <a:srgbClr val="7FB280"/>
                </a:solidFill>
              </a:rPr>
              <a:t>03</a:t>
            </a:r>
          </a:p>
          <a:p>
            <a:pPr>
              <a:spcBef>
                <a:spcPts val="300"/>
              </a:spcBef>
            </a:pPr>
            <a:r>
              <a:rPr lang="en-US" sz="1275" b="1" dirty="0">
                <a:solidFill>
                  <a:srgbClr val="FFFFFF"/>
                </a:solidFill>
              </a:rPr>
              <a:t>Consistent components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Rounded cards and arrows repeat.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One visual grammar across slides.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Every new slide fits the system.</a:t>
            </a:r>
          </a:p>
        </p:txBody>
      </p:sp>
      <p:sp>
        <p:nvSpPr>
          <p:cNvPr id="205" name="card"/>
          <p:cNvSpPr/>
          <p:nvPr/>
        </p:nvSpPr>
        <p:spPr>
          <a:xfrm>
            <a:off x="6686550" y="2552700"/>
            <a:ext cx="1885950" cy="2381250"/>
          </a:xfrm>
          <a:prstGeom prst="roundRect">
            <a:avLst>
              <a:gd name="adj" fmla="val 6000"/>
            </a:avLst>
          </a:prstGeom>
          <a:solidFill>
            <a:srgbClr val="A14B4B"/>
          </a:solidFill>
          <a:ln>
            <a:noFill/>
          </a:ln>
        </p:spPr>
        <p:txBody>
          <a:bodyPr lIns="102870" tIns="102870" rIns="102870" bIns="102870" anchor="t"/>
          <a:lstStyle/>
          <a:p>
            <a:pPr algn="l">
              <a:buNone/>
            </a:pPr>
            <a:r>
              <a:rPr lang="en-US" sz="825" b="1" dirty="0">
                <a:solidFill>
                  <a:srgbClr val="7FB280"/>
                </a:solidFill>
              </a:rPr>
              <a:t>04</a:t>
            </a:r>
          </a:p>
          <a:p>
            <a:pPr>
              <a:spcBef>
                <a:spcPts val="300"/>
              </a:spcBef>
            </a:pPr>
            <a:r>
              <a:rPr lang="en-US" sz="1275" b="1" dirty="0">
                <a:solidFill>
                  <a:srgbClr val="FFFFFF"/>
                </a:solidFill>
              </a:rPr>
              <a:t>Scannable by design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Lead with the takeaway.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Short lines over dense paragraphs.</a:t>
            </a:r>
          </a:p>
          <a:p>
            <a:pPr>
              <a:spcBef>
                <a:spcPts val="600"/>
              </a:spcBef>
            </a:pPr>
            <a:r>
              <a:rPr lang="en-US" sz="1050" dirty="0">
                <a:solidFill>
                  <a:srgbClr val="DCE3EC"/>
                </a:solidFill>
              </a:rPr>
              <a:t>Limited attention is a constraint, not an afterthought.</a:t>
            </a:r>
          </a:p>
        </p:txBody>
      </p:sp>
    </p:spTree>
    <p:extLst>
      <p:ext uri="{BB962C8B-B14F-4D97-AF65-F5344CB8AC3E}">
        <p14:creationId xmlns:p14="http://schemas.microsoft.com/office/powerpoint/2010/main" val="3604374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86286118]">
  <a:themeElements>
    <a:clrScheme name="Office">
      <a:dk1>
        <a:srgbClr val="1F3A5F"/>
      </a:dk1>
      <a:lt1>
        <a:srgbClr val="FFFFFF"/>
      </a:lt1>
      <a:dk2>
        <a:srgbClr val="415A77"/>
      </a:dk2>
      <a:lt2>
        <a:srgbClr val="DCE3EC"/>
      </a:lt2>
      <a:accent1>
        <a:srgbClr val="1F3A5F"/>
      </a:accent1>
      <a:accent2>
        <a:srgbClr val="415A77"/>
      </a:accent2>
      <a:accent3>
        <a:srgbClr val="5A7D5A"/>
      </a:accent3>
      <a:accent4>
        <a:srgbClr val="A14B4B"/>
      </a:accent4>
      <a:accent5>
        <a:srgbClr val="6B7280"/>
      </a:accent5>
      <a:accent6>
        <a:srgbClr val="DCE3E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A847C4-28CC-C945-9DD6-3BB18DDA25E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5027030-9bfe-4210-a54d-7b48122f9f2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748</Words>
  <Application>Microsoft Macintosh PowerPoint</Application>
  <PresentationFormat>On-screen Show (4:3)</PresentationFormat>
  <Paragraphs>181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Cousine</vt:lpstr>
      <vt:lpstr>Aptos</vt:lpstr>
      <vt:lpstr>Arial</vt:lpstr>
      <vt:lpstr>Calibri</vt:lpstr>
      <vt:lpstr>Menlo</vt:lpstr>
      <vt:lpstr>Office Theme [1781086286118]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Llewellyn Falco</cp:lastModifiedBy>
  <cp:revision>35</cp:revision>
  <dcterms:created xsi:type="dcterms:W3CDTF">2013-01-27T09:14:16Z</dcterms:created>
  <dcterms:modified xsi:type="dcterms:W3CDTF">2026-10-29T21:45:40Z</dcterms:modified>
  <cp:category/>
</cp:coreProperties>
</file>